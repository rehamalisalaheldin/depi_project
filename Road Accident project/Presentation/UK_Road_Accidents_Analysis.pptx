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F9C7C0-1E94-480E-BA6B-D1084C7FC17B}" v="229" dt="2026-07-25T13:52:10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Accident Severity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D6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77-4825-A4C4-A896F071448C}"/>
              </c:ext>
            </c:extLst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77-4825-A4C4-A896F071448C}"/>
              </c:ext>
            </c:extLst>
          </c:dPt>
          <c:dPt>
            <c:idx val="2"/>
            <c:bubble3D val="0"/>
            <c:spPr>
              <a:solidFill>
                <a:srgbClr val="121D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77-4825-A4C4-A896F071448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77-4825-A4C4-A896F071448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77-4825-A4C4-A896F071448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77-4825-A4C4-A896F071448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Slight</c:v>
                </c:pt>
                <c:pt idx="1">
                  <c:v>Serious</c:v>
                </c:pt>
                <c:pt idx="2">
                  <c:v>Fatal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263280</c:v>
                </c:pt>
                <c:pt idx="1">
                  <c:v>40740</c:v>
                </c:pt>
                <c:pt idx="2">
                  <c:v>3953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77-4825-A4C4-A896F07144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B2A4A"/>
                </a:solidFill>
                <a:latin typeface="Calibri"/>
              </a:rPr>
              <a:t>Accidents by Road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Single carriageway</c:v>
                </c:pt>
                <c:pt idx="1">
                  <c:v>Dual carriageway</c:v>
                </c:pt>
                <c:pt idx="2">
                  <c:v>Roundabout</c:v>
                </c:pt>
                <c:pt idx="3">
                  <c:v>One way street</c:v>
                </c:pt>
                <c:pt idx="4">
                  <c:v>Slip road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230612</c:v>
                </c:pt>
                <c:pt idx="1">
                  <c:v>45467</c:v>
                </c:pt>
                <c:pt idx="2">
                  <c:v>20929</c:v>
                </c:pt>
                <c:pt idx="3">
                  <c:v>6197</c:v>
                </c:pt>
                <c:pt idx="4">
                  <c:v>4768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B-453C-B25A-7C241D1611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44695-B905-4FB9-9BB6-32E46BC67299}" type="datetimeFigureOut">
              <a:t>25/07/2026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A9C0A-032B-41CA-93AA-54AD6E6D94C7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95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rot="-180000">
            <a:off x="-45720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80000">
            <a:off x="164592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80000">
            <a:off x="374904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80000">
            <a:off x="585216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80000">
            <a:off x="795528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80000">
            <a:off x="10058400" y="5989320"/>
            <a:ext cx="1005840" cy="8229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417320"/>
            <a:ext cx="548640" cy="8229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 ·  DATA ANALYTICS &amp; AI TRACK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ROAD ACCIDENTS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Data Analytics Journey — From Raw Records to Road Safety Strategy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7863840" cy="1920240"/>
          </a:xfrm>
          <a:prstGeom prst="rect">
            <a:avLst/>
          </a:prstGeom>
          <a:solidFill>
            <a:srgbClr val="1B2A4A">
              <a:alpha val="90000"/>
            </a:srgbClr>
          </a:solidFill>
          <a:ln w="12700">
            <a:solidFill>
              <a:srgbClr val="2E3F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736592"/>
            <a:ext cx="72237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[Shahd Saad Abdelsalam Youssef]  ·  [Reham Ali Salah El Din]  ·  [Jana Mohamed Said 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AbdelAziz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5047488"/>
            <a:ext cx="72237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[Rahma Galal Ramadan]  ·  [</a:t>
            </a:r>
            <a:r>
              <a:rPr lang="en-US" sz="1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Tervina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Atef Fariz]  ·  [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Marwa Esmail Abdelghaffar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72237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Marwan Mokhtar]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0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Excel   |   SQL Server   |   Power </a:t>
            </a:r>
            <a:r>
              <a:rPr lang="en-US" sz="110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BUSINESS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Road Safety Data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casualties occur on UK roads every year, yet safety interventions are often planned without a clear, data-driven view of when, where, and why accidents happen.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212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307,973 real accident records (2021–2022)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an SQL Server workflow for reliable, repeatable analysis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the temporal, environmental &amp; structural risk drivers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interactive Power BI &amp; Tableau dashboards</a:t>
            </a:r>
            <a:endParaRPr lang="en-US" sz="1350" dirty="0"/>
          </a:p>
          <a:p>
            <a:pPr marL="177800" indent="-177800">
              <a:lnSpc>
                <a:spcPts val="1900"/>
              </a:lnSpc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safety recommendations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83794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307,973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355080" y="24414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70848" y="1691640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70848" y="183794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417,883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62288" y="244144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3191256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3337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39410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ACCIDENTS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FATAL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70848" y="3191256"/>
            <a:ext cx="2606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70848" y="33375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62288" y="39410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DECLINE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kern="0" spc="5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('21→'22)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5257800"/>
            <a:ext cx="5413248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5349240"/>
            <a:ext cx="4864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raw government accident data into a strategic tool for reducing road fatalities.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INITIAL ANALYSIS  ·  EXCEL PHASE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First-Pass Exploration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7556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Audit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all 19 fields for gaps before any analysis began.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437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816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Standardization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311810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inconsistent labels (weather, severity, road type) into a single clean vocabulary.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044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8770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417880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accident_index is unique — no repeated records.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937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Pivot Analysis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523951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early Pivot Tables to preview severity &amp; yearly distribution before deep SQL analysis.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5274" y="1751874"/>
            <a:ext cx="5558972" cy="3458029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21" name="Image 0" descr="Dashboard_Exce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355" y="2076123"/>
            <a:ext cx="5287553" cy="28466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263640" y="4736592"/>
            <a:ext cx="51206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50" i="1" dirty="0">
              <a:solidFill>
                <a:srgbClr val="7A8AA0"/>
              </a:solidFill>
              <a:ea typeface="Calibri"/>
              <a:cs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364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50" i="1" dirty="0">
              <a:solidFill>
                <a:srgbClr val="E4572E"/>
              </a:solidFill>
              <a:ea typeface="Calibri"/>
              <a:cs typeface="Calibr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&amp; DATA ENGINEERING  ·  SQL PHASE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Structuring the Data in SQL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4343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road_accident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307,973 rows loaded directly from CSV into a single, query-ready SQL Server table — 19 columns across four analytical dimensions.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82296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729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4381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accident_date · day_of_week ·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950208"/>
            <a:ext cx="82296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227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187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weather_conditions · light_conditions · road_surface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700016"/>
            <a:ext cx="82296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725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9377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local_authority · police_force · urban_or_rural_area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5449824"/>
            <a:ext cx="82296" cy="5669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4223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6875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accident_severity · number_of_casualties · number_of_vehicles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ANALYTICAL QUERY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2057400"/>
            <a:ext cx="5577840" cy="173736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21284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road_type,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SUM(number_of_casualties) AS fatal_casualties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road_accident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accident_severity = 'Fatal'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road_type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4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fatal_casualties DESC;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PRINCIPLE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4343400"/>
            <a:ext cx="55778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>
                <a:solidFill>
                  <a:srgbClr val="3A4A63"/>
                </a:solidFill>
                <a:latin typeface="Calibri"/>
                <a:ea typeface="Calibri"/>
                <a:cs typeface="Calibri"/>
              </a:rPr>
              <a:t>A single, flat table was a deliberate choice the dataset has no repeating groups, </a:t>
            </a:r>
            <a:r>
              <a:rPr lang="en-US" sz="1250" dirty="0">
                <a:solidFill>
                  <a:srgbClr val="3A4A63"/>
                </a:solidFill>
                <a:latin typeface="Calibri"/>
                <a:ea typeface="Calibri"/>
                <a:cs typeface="Calibri"/>
              </a:rPr>
              <a:t>so a normalized multi-table schema would add JOIN overhead without analytical benefit. This let the team focus entirely on query design.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8932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PERFORMED IN 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5559552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5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Null-value audit per column (COUNT(*) − COUNT(column))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accident_index detection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consistency checks (SELECT DISTINCT)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EXPLORATORY ANALYSIS  ·  SQL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Reveal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91640"/>
          <a:ext cx="33832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160520" y="1691640"/>
          <a:ext cx="37490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229600" y="1691640"/>
            <a:ext cx="3337560" cy="2880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0" y="19659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79.4%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458200" y="2606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accidents happen in FINE weather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58200" y="315468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behavior — not weather — is the dominant risk factor. Bad-weather campaigns alone won't move the needle.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4800600"/>
            <a:ext cx="73152" cy="13716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FRIDAY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1520" y="5486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day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(50,529 accidents)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9184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91840" y="4800600"/>
            <a:ext cx="73152" cy="13716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/>
          <p:nvPr/>
        </p:nvSpPr>
        <p:spPr>
          <a:xfrm>
            <a:off x="352044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15:00–18:00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20440" y="5486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evening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window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0760" y="4800600"/>
            <a:ext cx="73152" cy="13716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/>
          <p:nvPr/>
        </p:nvSpPr>
        <p:spPr>
          <a:xfrm>
            <a:off x="630936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309360" y="5486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accidents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a car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869680" y="4800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869680" y="4800600"/>
            <a:ext cx="73152" cy="13716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/>
          <p:nvPr/>
        </p:nvSpPr>
        <p:spPr>
          <a:xfrm>
            <a:off x="9098280" y="4983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74.9%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9098280" y="5486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accidents on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carriageways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VISUALIZATIONS  ·  POWER BI PHASE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Queries to Interactive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3093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pic>
        <p:nvPicPr>
          <p:cNvPr id="5" name="Image 0" descr="Power_B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89" y="2021840"/>
            <a:ext cx="6096000" cy="34184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491625"/>
            <a:ext cx="5943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i="1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Interactive Power BI dashboard — filterable by  road surface, and weather condition.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5715000"/>
            <a:ext cx="5943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50" i="1" dirty="0">
              <a:solidFill>
                <a:srgbClr val="E457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722376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23760" y="21762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2075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98080" y="236829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 &amp; casualties by severity, each with a YoY % change indicator.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23760" y="3108960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00837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Line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498080" y="33009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vs. prior-year casualties compared month by month.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4041648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39410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498080" y="42336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density plotted across the UK to surface regional hotspots.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23760" y="4974336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4873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498080" y="5166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chart — road type, weather, surface — filters the entire dashboard.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23760" y="5806440"/>
            <a:ext cx="429768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7406640" y="58064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417,883 total casualties made explorable in real time.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&amp; ACTIONABLE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110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Single-Carriageway Upgrades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 of accidents &amp; 74% of fatal casualties occur here — the top infrastructure investment target.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9110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0916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Focus to Driver Behavior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7706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 of accidents happen in fine weather — enforcement should target speeding &amp; distraction, not weather alone.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412480" y="1783080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191109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59536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Friday &amp; Evening Peak Hours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95360" y="27706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visible policing around Friday traffic and the 15:00–18:00 commute window.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40080" y="3493008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210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3995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Rural Severity Gap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roads show higher severity per accident — invest in lighting, signage, and speed review.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526280" y="3493008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6210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09160" y="3995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Motorcycle Safety Campaigns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Motorcyclists face disproportionate injury severity relative to their traffic share.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412480" y="3493008"/>
            <a:ext cx="3657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5360" y="36210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D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95360" y="3995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Year-over-Year Monitoring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595360" y="4480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fell 11.7% and fatalities 35.6% (2021→2022) — track this trend with live dashboards.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-914400" y="-731520"/>
            <a:ext cx="14630400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788920"/>
            <a:ext cx="548640" cy="82296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91440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 Accidents Data Analysis  ·  Digital Egypt Pioneers Initiative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>
                <a:solidFill>
                  <a:srgbClr val="7A8AA0"/>
                </a:solidFill>
                <a:latin typeface="Calibri"/>
                <a:ea typeface="Calibri"/>
                <a:cs typeface="Calibri"/>
              </a:rPr>
              <a:t>Excel  ·  SQL Server  ·  Power BI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61</cp:revision>
  <dcterms:created xsi:type="dcterms:W3CDTF">2026-07-25T13:31:47Z</dcterms:created>
  <dcterms:modified xsi:type="dcterms:W3CDTF">2026-07-25T13:52:49Z</dcterms:modified>
</cp:coreProperties>
</file>